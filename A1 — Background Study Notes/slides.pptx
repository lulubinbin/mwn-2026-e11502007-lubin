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Open Sauce" charset="1" panose="00000500000000000000"/>
      <p:regular r:id="rId19"/>
    </p:embeddedFont>
    <p:embeddedFont>
      <p:font typeface="Open Sauce Semi-Bold" charset="1" panose="00000700000000000000"/>
      <p:regular r:id="rId20"/>
    </p:embeddedFont>
    <p:embeddedFont>
      <p:font typeface="Open Sauce Bold" charset="1" panose="000008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Masters/notesMaster1.xml" Type="http://schemas.openxmlformats.org/officeDocument/2006/relationships/notesMaster"/><Relationship Id="rId22" Target="theme/theme2.xml" Type="http://schemas.openxmlformats.org/officeDocument/2006/relationships/theme"/><Relationship Id="rId23" Target="notesSlides/notesSlide1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2.xml" Type="http://schemas.openxmlformats.org/officeDocument/2006/relationships/notesSlide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slides need to be simple in order to avoid taking attention away from you.</a:t>
            </a:r>
          </a:p>
          <a:p>
            <a:r>
              <a:rPr lang="en-US"/>
              <a:t/>
            </a:r>
          </a:p>
          <a:p>
            <a:r>
              <a:rPr lang="en-US"/>
              <a:t>Try to avoid generic templates or ones with a lot of visual noise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This is distracting for the audience as they will try to read the text on screen as well.</a:t>
            </a:r>
          </a:p>
          <a:p>
            <a:r>
              <a:rPr lang="en-US"/>
              <a:t/>
            </a:r>
          </a:p>
          <a:p>
            <a:r>
              <a:rPr lang="en-US"/>
              <a:t>Use big text and very few words</a:t>
            </a:r>
          </a:p>
          <a:p>
            <a:r>
              <a:rPr lang="en-US"/>
              <a:t>Put only one point on each slide so that the audience doesn't read ahead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Photos create engagement for your presentation.</a:t>
            </a:r>
          </a:p>
          <a:p>
            <a:r>
              <a:rPr lang="en-US"/>
              <a:t/>
            </a:r>
          </a:p>
          <a:p>
            <a:r>
              <a:rPr lang="en-US"/>
              <a:t>Be careful of generic photos which may look boring</a:t>
            </a:r>
          </a:p>
          <a:p>
            <a:r>
              <a:rPr lang="en-US"/>
              <a:t>Be sure you have the rights to display the photo</a:t>
            </a:r>
          </a:p>
          <a:p>
            <a:r>
              <a:rPr lang="en-US"/>
              <a:t>Pay attention to composition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Author: S. Keshav (and students)</a:t>
            </a:r>
          </a:p>
          <a:p>
            <a:r>
              <a:rPr lang="en-US"/>
              <a:t>School: University of Waterloo, Ontario, Canada</a:t>
            </a:r>
          </a:p>
          <a:p>
            <a:r>
              <a:rPr lang="en-US"/>
              <a:t/>
            </a:r>
          </a:p>
          <a:p>
            <a:r>
              <a:rPr lang="en-US"/>
              <a:t>The paper aims to provide a method for efficient and productive reading of academic papers.</a:t>
            </a:r>
          </a:p>
          <a:p>
            <a:r>
              <a:rPr lang="en-US"/>
              <a:t>--&gt; Centered around the 3 pass approach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Key steps:</a:t>
            </a:r>
          </a:p>
          <a:p>
            <a:r>
              <a:rPr lang="en-US"/>
              <a:t/>
            </a:r>
          </a:p>
          <a:p>
            <a:r>
              <a:rPr lang="en-US"/>
              <a:t>Read the title, abstract, introduction</a:t>
            </a:r>
          </a:p>
          <a:p>
            <a:r>
              <a:rPr lang="en-US"/>
              <a:t>Read the table of contents (titles, section and subsections headings, ...)</a:t>
            </a:r>
          </a:p>
          <a:p>
            <a:r>
              <a:rPr lang="en-US"/>
              <a:t>Read the conclusions</a:t>
            </a:r>
          </a:p>
          <a:p>
            <a:r>
              <a:rPr lang="en-US"/>
              <a:t>and lastly Read the references, looking for anything you might have read.</a:t>
            </a:r>
          </a:p>
          <a:p>
            <a:r>
              <a:rPr lang="en-US"/>
              <a:t>After this you should be able to answer the 5 Cs: Category, context, correctness, contributions, and clarity.</a:t>
            </a:r>
          </a:p>
          <a:p>
            <a:r>
              <a:rPr lang="en-US"/>
              <a:t/>
            </a:r>
          </a:p>
          <a:p>
            <a:r>
              <a:rPr lang="en-US"/>
              <a:t>Duration: a few minutes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Read the paper again with more care looking at everything but not trying to go too much into details (skip proofs for instance).</a:t>
            </a:r>
          </a:p>
          <a:p>
            <a:r>
              <a:rPr lang="en-US"/>
              <a:t/>
            </a:r>
          </a:p>
          <a:p>
            <a:r>
              <a:rPr lang="en-US"/>
              <a:t>Duration: ~1 hour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By trying to mentally recreate the paper, you may learn more about the way the author think.</a:t>
            </a:r>
          </a:p>
          <a:p>
            <a:r>
              <a:rPr lang="en-US"/>
              <a:t/>
            </a:r>
          </a:p>
          <a:p>
            <a:r>
              <a:rPr lang="en-US"/>
              <a:t>In this step you should also go into detail (and read all the proofs)</a:t>
            </a:r>
          </a:p>
          <a:p>
            <a:r>
              <a:rPr lang="en-US"/>
              <a:t/>
            </a:r>
          </a:p>
          <a:p>
            <a:r>
              <a:rPr lang="en-US"/>
              <a:t>Duration: ~1 hour if experienced (but 4 or 5 for everyone else)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You don't have to do the 3 steps, you may chose to stop at each point.</a:t>
            </a:r>
          </a:p>
          <a:p>
            <a:r>
              <a:rPr lang="en-US"/>
              <a:t>You may want to do a litterature survey (reading a lot of linked papers) to train your paper reading skills and to learn about a scientific field.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For the final project, I will follow the basic path and work on the paper Analysis of IEEE 802.11e for QoS support in wireless LANs.</a:t>
            </a:r>
          </a:p>
          <a:p>
            <a:r>
              <a:rPr lang="en-US"/>
              <a:t/>
            </a:r>
          </a:p>
          <a:p>
            <a:r>
              <a:rPr lang="en-US"/>
              <a:t>The modification from the baseline reproduction will probably be the effect of distance on the QoS but I am still open to other changes.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138746"/>
            <a:ext cx="12008385" cy="780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sz="5601" spc="-330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MULTIMEDIA WIRELESS NETWORKS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608035" y="-4316939"/>
            <a:ext cx="22188662" cy="18920878"/>
          </a:xfrm>
          <a:custGeom>
            <a:avLst/>
            <a:gdLst/>
            <a:ahLst/>
            <a:cxnLst/>
            <a:rect r="r" b="b" t="t" l="l"/>
            <a:pathLst>
              <a:path h="18920878" w="22188662">
                <a:moveTo>
                  <a:pt x="0" y="0"/>
                </a:moveTo>
                <a:lnTo>
                  <a:pt x="22188662" y="0"/>
                </a:lnTo>
                <a:lnTo>
                  <a:pt x="22188662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071844"/>
            <a:ext cx="13616443" cy="34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392"/>
              </a:lnSpc>
              <a:spcBef>
                <a:spcPct val="0"/>
              </a:spcBef>
            </a:pPr>
            <a:r>
              <a:rPr lang="en-US" b="true" sz="12400" spc="-731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A1 - BACKGROUND STUDY NOTES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181" t="-19076" r="-3000" b="-114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90489" y="2725480"/>
            <a:ext cx="8718743" cy="2193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50"/>
              </a:lnSpc>
              <a:spcBef>
                <a:spcPct val="0"/>
              </a:spcBef>
            </a:pPr>
            <a:r>
              <a:rPr lang="en-US" b="true" sz="7917" spc="-46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5 TIPS FOR PRESENTATIONS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90489" y="5092640"/>
            <a:ext cx="7134466" cy="88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#1 KEEP IT SIMPLE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8153289" y="493643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275201" y="-772630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413673" y="9377862"/>
            <a:ext cx="1241283" cy="639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181" t="-19076" r="-3000" b="-114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90489" y="2725480"/>
            <a:ext cx="8718743" cy="2193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50"/>
              </a:lnSpc>
              <a:spcBef>
                <a:spcPct val="0"/>
              </a:spcBef>
            </a:pPr>
            <a:r>
              <a:rPr lang="en-US" b="true" sz="7917" spc="-46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5 TIPS FOR PRESENTATIONS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90489" y="5092640"/>
            <a:ext cx="7134466" cy="1811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#2 DON’T READ FROM YOUR SLIDES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8153289" y="493643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275201" y="-772630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413673" y="9377862"/>
            <a:ext cx="1241283" cy="639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181" t="-19076" r="-3000" b="-114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90489" y="5092640"/>
            <a:ext cx="7134466" cy="88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#3 USE IMAGES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8153289" y="493643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275201" y="-772630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660556" y="1028700"/>
            <a:ext cx="6255889" cy="8229600"/>
            <a:chOff x="0" y="0"/>
            <a:chExt cx="812800" cy="10692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1069236"/>
            </a:xfrm>
            <a:custGeom>
              <a:avLst/>
              <a:gdLst/>
              <a:ahLst/>
              <a:cxnLst/>
              <a:rect r="r" b="b" t="t" l="l"/>
              <a:pathLst>
                <a:path h="1069236" w="812800">
                  <a:moveTo>
                    <a:pt x="28463" y="0"/>
                  </a:moveTo>
                  <a:lnTo>
                    <a:pt x="784337" y="0"/>
                  </a:lnTo>
                  <a:cubicBezTo>
                    <a:pt x="800056" y="0"/>
                    <a:pt x="812800" y="12744"/>
                    <a:pt x="812800" y="28463"/>
                  </a:cubicBezTo>
                  <a:lnTo>
                    <a:pt x="812800" y="1040772"/>
                  </a:lnTo>
                  <a:cubicBezTo>
                    <a:pt x="812800" y="1056492"/>
                    <a:pt x="800056" y="1069236"/>
                    <a:pt x="784337" y="1069236"/>
                  </a:cubicBezTo>
                  <a:lnTo>
                    <a:pt x="28463" y="1069236"/>
                  </a:lnTo>
                  <a:cubicBezTo>
                    <a:pt x="12744" y="1069236"/>
                    <a:pt x="0" y="1056492"/>
                    <a:pt x="0" y="1040772"/>
                  </a:cubicBezTo>
                  <a:lnTo>
                    <a:pt x="0" y="28463"/>
                  </a:lnTo>
                  <a:cubicBezTo>
                    <a:pt x="0" y="12744"/>
                    <a:pt x="12744" y="0"/>
                    <a:pt x="28463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7155" r="0" b="-7155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590489" y="2725480"/>
            <a:ext cx="8718743" cy="2193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50"/>
              </a:lnSpc>
              <a:spcBef>
                <a:spcPct val="0"/>
              </a:spcBef>
            </a:pPr>
            <a:r>
              <a:rPr lang="en-US" b="true" sz="7917" spc="-46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5 TIPS FOR PRESENTATIONS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13673" y="9377862"/>
            <a:ext cx="1241283" cy="639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90489" y="2725480"/>
            <a:ext cx="8718743" cy="2193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50"/>
              </a:lnSpc>
              <a:spcBef>
                <a:spcPct val="0"/>
              </a:spcBef>
            </a:pPr>
            <a:r>
              <a:rPr lang="en-US" b="true" sz="7917" spc="-46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5 TIPS FOR PRESENTATIONS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90489" y="5092640"/>
            <a:ext cx="7696713" cy="88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#4 KEEP DATA SIMPLE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8153289" y="493643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275201" y="-772630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413673" y="9377862"/>
            <a:ext cx="1241283" cy="639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5/13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90489" y="2725480"/>
            <a:ext cx="8718743" cy="2193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50"/>
              </a:lnSpc>
              <a:spcBef>
                <a:spcPct val="0"/>
              </a:spcBef>
            </a:pPr>
            <a:r>
              <a:rPr lang="en-US" b="true" sz="7917" spc="-46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5 TIPS FOR PRESENTATIONS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90489" y="5092640"/>
            <a:ext cx="7134466" cy="1811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#5 USE CONSISTENT DESIGN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8153289" y="493643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275201" y="-772630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413673" y="9377862"/>
            <a:ext cx="1241283" cy="639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181" t="-19076" r="-3000" b="-114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90489" y="2725480"/>
            <a:ext cx="8718743" cy="2193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50"/>
              </a:lnSpc>
              <a:spcBef>
                <a:spcPct val="0"/>
              </a:spcBef>
            </a:pPr>
            <a:r>
              <a:rPr lang="en-US" b="true" sz="7917" spc="-46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HOW TO READ A PAPER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90489" y="5092640"/>
            <a:ext cx="9341807" cy="1811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S. KESHAV</a:t>
            </a:r>
          </a:p>
          <a:p>
            <a:pPr algn="l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UNIVERSITY OF WATERLOO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9553190">
            <a:off x="-8153289" y="493643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9241528">
            <a:off x="11275201" y="-772630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413673" y="9377862"/>
            <a:ext cx="1241283" cy="639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181" t="-19076" r="-3000" b="-114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90489" y="2725480"/>
            <a:ext cx="8718743" cy="2193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50"/>
              </a:lnSpc>
              <a:spcBef>
                <a:spcPct val="0"/>
              </a:spcBef>
            </a:pPr>
            <a:r>
              <a:rPr lang="en-US" b="true" sz="7917" spc="-46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HOW TO READ A PAPER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90489" y="5092640"/>
            <a:ext cx="8987799" cy="2734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FIRST PASS : A BIRD'S-EYE VIEW</a:t>
            </a:r>
          </a:p>
          <a:p>
            <a:pPr algn="l" marL="0" indent="0" lvl="0">
              <a:lnSpc>
                <a:spcPts val="7279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9553190">
            <a:off x="-8153289" y="493643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9241528">
            <a:off x="11275201" y="-772630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413673" y="9377862"/>
            <a:ext cx="1241283" cy="639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181" t="-19076" r="-3000" b="-114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90489" y="2725480"/>
            <a:ext cx="8718743" cy="2193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50"/>
              </a:lnSpc>
              <a:spcBef>
                <a:spcPct val="0"/>
              </a:spcBef>
            </a:pPr>
            <a:r>
              <a:rPr lang="en-US" b="true" sz="7917" spc="-46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HOW TO READ A PAPER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90489" y="5092640"/>
            <a:ext cx="8987799" cy="3658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SECOND PASS : UNDERSTAND MOST OF THE PAPER</a:t>
            </a:r>
          </a:p>
          <a:p>
            <a:pPr algn="l" marL="0" indent="0" lvl="0">
              <a:lnSpc>
                <a:spcPts val="7279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9553190">
            <a:off x="-8153289" y="493643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9241528">
            <a:off x="11275201" y="-772630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413673" y="9377862"/>
            <a:ext cx="1241283" cy="639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181" t="-19076" r="-3000" b="-114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90489" y="2725480"/>
            <a:ext cx="8718743" cy="2193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50"/>
              </a:lnSpc>
              <a:spcBef>
                <a:spcPct val="0"/>
              </a:spcBef>
            </a:pPr>
            <a:r>
              <a:rPr lang="en-US" b="true" sz="7917" spc="-46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HOW TO READ A PAPER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90489" y="5092640"/>
            <a:ext cx="8987799" cy="3658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THIRD PASS : MENTALLY RE-IMPLEMENT THE PAPER</a:t>
            </a:r>
          </a:p>
          <a:p>
            <a:pPr algn="l" marL="0" indent="0" lvl="0">
              <a:lnSpc>
                <a:spcPts val="7279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9553190">
            <a:off x="-8153289" y="493643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9241528">
            <a:off x="11275201" y="-772630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413673" y="9377862"/>
            <a:ext cx="1241283" cy="639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181" t="-19076" r="-3000" b="-114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90489" y="2725480"/>
            <a:ext cx="8718743" cy="2193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50"/>
              </a:lnSpc>
              <a:spcBef>
                <a:spcPct val="0"/>
              </a:spcBef>
            </a:pPr>
            <a:r>
              <a:rPr lang="en-US" b="true" sz="7917" spc="-46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HOW TO READ A PAPER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90489" y="5092640"/>
            <a:ext cx="8987799" cy="88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CONCLUSION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9553190">
            <a:off x="-8153289" y="493643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9241528">
            <a:off x="11275201" y="-772630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413673" y="9377862"/>
            <a:ext cx="1241283" cy="639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181" t="-19076" r="-3000" b="-1142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75837" y="757775"/>
            <a:ext cx="16736327" cy="8771450"/>
            <a:chOff x="0" y="0"/>
            <a:chExt cx="4407921" cy="23101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07921" cy="2310176"/>
            </a:xfrm>
            <a:custGeom>
              <a:avLst/>
              <a:gdLst/>
              <a:ahLst/>
              <a:cxnLst/>
              <a:rect r="r" b="b" t="t" l="l"/>
              <a:pathLst>
                <a:path h="2310176" w="4407921">
                  <a:moveTo>
                    <a:pt x="16190" y="0"/>
                  </a:moveTo>
                  <a:lnTo>
                    <a:pt x="4391731" y="0"/>
                  </a:lnTo>
                  <a:cubicBezTo>
                    <a:pt x="4400672" y="0"/>
                    <a:pt x="4407921" y="7249"/>
                    <a:pt x="4407921" y="16190"/>
                  </a:cubicBezTo>
                  <a:lnTo>
                    <a:pt x="4407921" y="2293986"/>
                  </a:lnTo>
                  <a:cubicBezTo>
                    <a:pt x="4407921" y="2302927"/>
                    <a:pt x="4400672" y="2310176"/>
                    <a:pt x="4391731" y="2310176"/>
                  </a:cubicBezTo>
                  <a:lnTo>
                    <a:pt x="16190" y="2310176"/>
                  </a:lnTo>
                  <a:cubicBezTo>
                    <a:pt x="7249" y="2310176"/>
                    <a:pt x="0" y="2302927"/>
                    <a:pt x="0" y="2293986"/>
                  </a:cubicBezTo>
                  <a:lnTo>
                    <a:pt x="0" y="16190"/>
                  </a:lnTo>
                  <a:cubicBezTo>
                    <a:pt x="0" y="7249"/>
                    <a:pt x="7249" y="0"/>
                    <a:pt x="16190" y="0"/>
                  </a:cubicBezTo>
                  <a:close/>
                </a:path>
              </a:pathLst>
            </a:custGeom>
            <a:solidFill>
              <a:srgbClr val="BBD6E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07921" cy="2348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708439" y="2381003"/>
            <a:ext cx="8871123" cy="3282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50"/>
              </a:lnSpc>
              <a:spcBef>
                <a:spcPct val="0"/>
              </a:spcBef>
            </a:pPr>
            <a:r>
              <a:rPr lang="en-US" b="true" sz="7917" spc="-467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MY PR</a:t>
            </a:r>
            <a:r>
              <a:rPr lang="en-US" b="true" sz="7917" spc="-467" strike="noStrike" u="none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OJECT PROPOSAL</a:t>
            </a:r>
          </a:p>
          <a:p>
            <a:pPr algn="ctr" marL="0" indent="0" lvl="0">
              <a:lnSpc>
                <a:spcPts val="855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650100" y="5057775"/>
            <a:ext cx="8987799" cy="1429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178" indent="-442589" lvl="1">
              <a:lnSpc>
                <a:spcPts val="5739"/>
              </a:lnSpc>
              <a:buFont typeface="Arial"/>
              <a:buChar char="•"/>
            </a:pPr>
            <a:r>
              <a:rPr lang="en-US" b="true" sz="409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BASIC PATH</a:t>
            </a:r>
          </a:p>
          <a:p>
            <a:pPr algn="l" marL="885178" indent="-442589" lvl="1">
              <a:lnSpc>
                <a:spcPts val="57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099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EFFECT OF DISTANCE ON QOS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413673" y="9377862"/>
            <a:ext cx="1241283" cy="639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829802"/>
            <a:ext cx="10155052" cy="2741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93"/>
              </a:lnSpc>
            </a:pPr>
            <a:r>
              <a:rPr lang="en-US" sz="9901" spc="-584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THANK YOU FOR YOUR ATTENTION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608035" y="-4316939"/>
            <a:ext cx="22188662" cy="18920878"/>
          </a:xfrm>
          <a:custGeom>
            <a:avLst/>
            <a:gdLst/>
            <a:ahLst/>
            <a:cxnLst/>
            <a:rect r="r" b="b" t="t" l="l"/>
            <a:pathLst>
              <a:path h="18920878" w="22188662">
                <a:moveTo>
                  <a:pt x="0" y="0"/>
                </a:moveTo>
                <a:lnTo>
                  <a:pt x="22188662" y="0"/>
                </a:lnTo>
                <a:lnTo>
                  <a:pt x="22188662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413673" y="9377862"/>
            <a:ext cx="1241283" cy="639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DAHVn_deQHk</dc:identifier>
  <dcterms:modified xsi:type="dcterms:W3CDTF">2011-08-01T06:04:30Z</dcterms:modified>
  <cp:revision>1</cp:revision>
  <dc:title>MWC</dc:title>
</cp:coreProperties>
</file>