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presenting, check these parameters against TS 26.926 and update this slide if they differ.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0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20485"/>
            <a:ext cx="10566418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50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620485"/>
            <a:ext cx="10566418" cy="4424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2473974"/>
            <a:ext cx="11379218" cy="7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20"/>
              </a:lnSpc>
              <a:buNone/>
            </a:pPr>
            <a:r>
              <a:rPr lang="en-US" sz="5200" b="1" i="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 — ns-3 Setup &amp; First Scenario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812782" y="3454391"/>
            <a:ext cx="10883429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08A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ns-3.48 · AI generated 3GPP video streaming traffic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82" y="4099538"/>
            <a:ext cx="1088342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Lubin OUISSE · E11502007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ns-3 install and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57" y="1725251"/>
            <a:ext cx="3380347" cy="2297013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555" y="1981849"/>
            <a:ext cx="2953166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2555" y="2388195"/>
            <a:ext cx="2953166" cy="1402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 </a:t>
            </a:r>
            <a:r>
              <a:rPr lang="en-US" sz="16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ns-3.48 all in one</a:t>
            </a: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on </a:t>
            </a:r>
            <a:r>
              <a:rPr lang="en-US" sz="16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MacOS 15.8.1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Downloaded from the ns-3 website 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5826" y="1725251"/>
            <a:ext cx="3380347" cy="2297013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424" y="1981849"/>
            <a:ext cx="2953166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2424" y="2388195"/>
            <a:ext cx="2953166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successfully by following the README</a:t>
            </a: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endParaRPr lang="en-US" sz="1600" dirty="0"/>
          </a:p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Issue with CMake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5696" y="1725251"/>
            <a:ext cx="3380347" cy="2297013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294" y="1981849"/>
            <a:ext cx="2953166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2294" y="2388195"/>
            <a:ext cx="2953166" cy="57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 </a:t>
            </a:r>
            <a:r>
              <a:rPr lang="en-US" sz="16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test.py</a:t>
            </a: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check the build. All 1000 tests passed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39418" y="6238289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3GPP video streaming traffic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57" y="1725251"/>
            <a:ext cx="3380347" cy="2204785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2555" y="1981850"/>
            <a:ext cx="2953166" cy="29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2555" y="2357707"/>
            <a:ext cx="2953166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 ms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2555" y="2850418"/>
            <a:ext cx="2953166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frame every 100 ms, split into 8 packets.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826" y="1725251"/>
            <a:ext cx="3380347" cy="2204785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2424" y="1981850"/>
            <a:ext cx="2953166" cy="29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Packet size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2424" y="2357707"/>
            <a:ext cx="2953166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20–250 B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2424" y="2850418"/>
            <a:ext cx="2953166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Truncated Pareto: k = 20 B, α = 1.2, max 250 B.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95696" y="1725251"/>
            <a:ext cx="3380347" cy="2204785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2294" y="1981850"/>
            <a:ext cx="2953166" cy="299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34A1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Inter-arrival 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52294" y="2357707"/>
            <a:ext cx="2953166" cy="416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2.5–12.5 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2294" y="2850418"/>
            <a:ext cx="2953166" cy="84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Within a frame. Truncated Pareto: k = 2.5 ms, α = 1.2, max 12.5 ms.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39418" y="6238287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782" y="1722076"/>
            <a:ext cx="3386697" cy="2047289"/>
          </a:xfrm>
          <a:prstGeom prst="roundRect">
            <a:avLst>
              <a:gd name="adj" fmla="val 4963"/>
            </a:avLst>
          </a:prstGeom>
          <a:solidFill>
            <a:srgbClr val="1F2937"/>
          </a:solidFill>
          <a:ln/>
        </p:spPr>
      </p:sp>
      <p:sp>
        <p:nvSpPr>
          <p:cNvPr id="4" name="Text 2"/>
          <p:cNvSpPr/>
          <p:nvPr/>
        </p:nvSpPr>
        <p:spPr>
          <a:xfrm>
            <a:off x="1066782" y="1976076"/>
            <a:ext cx="2965057" cy="66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8A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4,720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66782" y="2692346"/>
            <a:ext cx="2965057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packets sent and 4,720 received. No loss.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651" y="1722076"/>
            <a:ext cx="3386697" cy="2047289"/>
          </a:xfrm>
          <a:prstGeom prst="roundRect">
            <a:avLst>
              <a:gd name="adj" fmla="val 4963"/>
            </a:avLst>
          </a:prstGeom>
          <a:solidFill>
            <a:srgbClr val="1F2937"/>
          </a:solidFill>
          <a:ln/>
        </p:spPr>
      </p:sp>
      <p:sp>
        <p:nvSpPr>
          <p:cNvPr id="7" name="Text 5"/>
          <p:cNvSpPr/>
          <p:nvPr/>
        </p:nvSpPr>
        <p:spPr>
          <a:xfrm>
            <a:off x="4656651" y="1976076"/>
            <a:ext cx="2965057" cy="66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8A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50.0 kbps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656651" y="2692346"/>
            <a:ext cx="2965057" cy="57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throughput, far below the 5 Mbps link capacity.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92521" y="1722076"/>
            <a:ext cx="3386697" cy="2047289"/>
          </a:xfrm>
          <a:prstGeom prst="roundRect">
            <a:avLst>
              <a:gd name="adj" fmla="val 4963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8246521" y="1976076"/>
            <a:ext cx="2965057" cy="665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F08A4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10.13 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246521" y="2692346"/>
            <a:ext cx="2965057" cy="848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delay: 10 ms propagation plus about 0.13 ms transmission.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39418" y="6238289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382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broke and how it was fixed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4836" y="2419495"/>
          <a:ext cx="8813872" cy="2030557"/>
        </p:xfrm>
        <a:graphic>
          <a:graphicData uri="http://schemas.openxmlformats.org/drawingml/2006/table">
            <a:tbl>
              <a:tblPr/>
              <a:tblGrid>
                <a:gridCol w="2937957"/>
                <a:gridCol w="2937957"/>
                <a:gridCol w="2937957"/>
              </a:tblGrid>
              <a:tr h="445763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Issue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Cause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Fix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67685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Compile error on SIZE_MAX and g_log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Variable names colliding with MacOS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Renamed to PKT_SIZE_MAX and g_txLog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7942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pip install refused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Externally managed Python on macOS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pipx did not help because it isolates libraries; a virtual environment worked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39418" y="6238289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apture d’écran 2026-10-08 à 15.34.07.png">    </p:cNvPr>
          <p:cNvPicPr>
            <a:picLocks noChangeAspect="1"/>
          </p:cNvPicPr>
          <p:nvPr/>
        </p:nvPicPr>
        <p:blipFill>
          <a:blip r:embed="rId1"/>
          <a:srcRect l="0" r="0" t="712" b="712"/>
          <a:stretch/>
        </p:blipFill>
        <p:spPr>
          <a:xfrm>
            <a:off x="793119" y="194534"/>
            <a:ext cx="10605763" cy="64689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59252" y="6399383"/>
            <a:ext cx="889000" cy="264102"/>
          </a:xfrm>
          <a:prstGeom prst="roundRect">
            <a:avLst>
              <a:gd name="adj" fmla="val 19235"/>
            </a:avLst>
          </a:prstGeom>
          <a:solidFill>
            <a:srgbClr val="F5F3EE"/>
          </a:solidFill>
          <a:ln/>
        </p:spPr>
        <p:txBody>
          <a:bodyPr wrap="square" lIns="10521" tIns="10521" rIns="61321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B243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Verifying the generated distributions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327" y="1682792"/>
          <a:ext cx="10554890" cy="2311571"/>
        </p:xfrm>
        <a:graphic>
          <a:graphicData uri="http://schemas.openxmlformats.org/drawingml/2006/table">
            <a:tbl>
              <a:tblPr/>
              <a:tblGrid>
                <a:gridCol w="3518297"/>
                <a:gridCol w="3518297"/>
                <a:gridCol w="3518297"/>
              </a:tblGrid>
              <a:tr h="462314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Statistic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Packet size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Inter-arrival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1DC"/>
                    </a:solidFill>
                  </a:tcPr>
                </a:tc>
              </a:tr>
              <a:tr h="462314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Samples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4,720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4,130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4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314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50.1 B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4.75 ms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314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Min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20 B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2.50 ms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2314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Max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250 B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12.50 ms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101600" marB="101600" anchor="t">
                    <a:lnL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39418" y="6238286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gure_1.png">    </p:cNvPr>
          <p:cNvPicPr>
            <a:picLocks noChangeAspect="1"/>
          </p:cNvPicPr>
          <p:nvPr/>
        </p:nvPicPr>
        <p:blipFill>
          <a:blip r:embed="rId1"/>
          <a:srcRect l="-17932" r="-17932" t="0" b="0"/>
          <a:stretch/>
        </p:blipFill>
        <p:spPr>
          <a:xfrm>
            <a:off x="812804" y="600952"/>
            <a:ext cx="10566391" cy="565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39418" y="6238289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2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52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7768" y="1722072"/>
            <a:ext cx="10860823" cy="19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9014" indent="-2390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ns-3.48 build works and passes all 1000 tests.</a:t>
            </a:r>
            <a:endParaRPr lang="en-US" sz="2200" dirty="0"/>
          </a:p>
          <a:p>
            <a:pPr algn="l" marL="239014" indent="-2390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generator reproduces the intended Pareto distributions: simulated CDFs match theory.</a:t>
            </a:r>
            <a:endParaRPr lang="en-US" sz="2200" dirty="0"/>
          </a:p>
          <a:p>
            <a:pPr algn="l" marL="239014" indent="-239014">
              <a:lnSpc>
                <a:spcPts val="3080"/>
              </a:lnSpc>
              <a:buSzPct val="100000"/>
              <a:buChar char="•"/>
            </a:pPr>
            <a:r>
              <a:rPr lang="en-US" sz="2200" dirty="0">
                <a:solidFill>
                  <a:srgbClr val="F1EEE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Means sit below the untruncated Pareto means because the tail is cut at the maximum.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439418" y="6238286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2 — ns-3 Setup &amp; First Scenario">
  <a:themeElements>
    <a:clrScheme name="A2 — ns-3 Setup &amp; First Scenario">
      <a:dk1>
        <a:srgbClr val="1B2430"/>
      </a:dk1>
      <a:lt1>
        <a:srgbClr val="F5F3EE"/>
      </a:lt1>
      <a:dk2>
        <a:srgbClr val="525860"/>
      </a:dk2>
      <a:lt2>
        <a:srgbClr val="DFDEDB"/>
      </a:lt2>
      <a:accent1>
        <a:srgbClr val="B34A12"/>
      </a:accent1>
      <a:accent2>
        <a:srgbClr val="F08A4B"/>
      </a:accent2>
      <a:accent3>
        <a:srgbClr val="5A626B"/>
      </a:accent3>
      <a:accent4>
        <a:srgbClr val="C9C5BA"/>
      </a:accent4>
      <a:accent5>
        <a:srgbClr val="9AA0A6"/>
      </a:accent5>
      <a:accent6>
        <a:srgbClr val="72777C"/>
      </a:accent6>
      <a:hlink>
        <a:srgbClr val="0563C1"/>
      </a:hlink>
      <a:folHlink>
        <a:srgbClr val="954F72"/>
      </a:folHlink>
    </a:clrScheme>
    <a:fontScheme name="A2 — ns-3 Setup &amp; First Scenario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 — ns-3 Setup &amp; First Scenario</dc:title>
  <dc:subject/>
  <dc:creator/>
  <cp:lastModifiedBy/>
  <cp:revision>1</cp:revision>
  <dcterms:created xsi:type="dcterms:W3CDTF">2026-10-12T09:04:22Z</dcterms:created>
  <dcterms:modified xsi:type="dcterms:W3CDTF">2026-10-12T09:04:22Z</dcterms:modified>
</cp:coreProperties>
</file>